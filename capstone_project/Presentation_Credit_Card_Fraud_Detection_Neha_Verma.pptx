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Fraud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Imbalance-Aware Modeling with Business-Driven Optimization</a:t>
            </a:r>
          </a:p>
          <a:p/>
          <a:p>
            <a:r>
              <a:t>Neha Verma</a:t>
            </a:r>
          </a:p>
          <a:p>
            <a:r>
              <a:t>Capstone Technical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Risk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transactions account for only 0.57% but drive major financial loss</a:t>
            </a:r>
          </a:p>
          <a:p>
            <a:pPr lvl="1"/>
            <a:r>
              <a:t>Accuracy is misleading in highly imbalanced datasets</a:t>
            </a:r>
          </a:p>
          <a:p>
            <a:pPr lvl="1"/>
            <a:r>
              <a:t>Objective: Minimize total fraud-related financial loss</a:t>
            </a:r>
          </a:p>
          <a:p>
            <a:pPr lvl="1"/>
            <a:r>
              <a:t>Goal: Balance fraud detection with operational verification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Validation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1.8M transactions (2019–2020)</a:t>
            </a:r>
          </a:p>
          <a:p>
            <a:pPr lvl="1"/>
            <a:r>
              <a:t>Fraud rate ≈ 0.57%</a:t>
            </a:r>
          </a:p>
          <a:p>
            <a:pPr lvl="1"/>
            <a:r>
              <a:t>Time-based split: Train (2019), Test (2020)</a:t>
            </a:r>
          </a:p>
          <a:p>
            <a:pPr lvl="1"/>
            <a:r>
              <a:t>Prevents temporal leakage and simulates real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Severe class imbalance confirmed</a:t>
            </a:r>
          </a:p>
          <a:p>
            <a:pPr lvl="1"/>
            <a:r>
              <a:t>Transaction amount highly skewed → Log transformation applied</a:t>
            </a:r>
          </a:p>
          <a:p>
            <a:pPr lvl="1"/>
            <a:r>
              <a:t>Fraud varies by transaction hour and merchant category</a:t>
            </a:r>
          </a:p>
          <a:p>
            <a:pPr lvl="1"/>
            <a:r>
              <a:t>Fraud detection is behavior-driven rather than identity-driven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behavior: txn count, avg amount, std deviation</a:t>
            </a:r>
          </a:p>
          <a:p>
            <a:pPr lvl="1"/>
            <a:r>
              <a:t>Merchant risk profiling: merchant_fraud_rate</a:t>
            </a:r>
          </a:p>
          <a:p>
            <a:pPr lvl="1"/>
            <a:r>
              <a:t>Customer age derived from DOB</a:t>
            </a:r>
          </a:p>
          <a:p>
            <a:pPr lvl="1"/>
            <a:r>
              <a:t>One-hot encoding (state, category) &amp; frequency encoding (job)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Pipeline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Baseline: Logistic Regression</a:t>
            </a:r>
          </a:p>
          <a:p>
            <a:pPr lvl="1"/>
            <a:r>
              <a:t>Ensemble: Random Forest</a:t>
            </a:r>
          </a:p>
          <a:p>
            <a:pPr lvl="1"/>
            <a:r>
              <a:t>Boosting: HistGradientBoosting</a:t>
            </a:r>
          </a:p>
          <a:p>
            <a:pPr lvl="1"/>
            <a:r>
              <a:t>Hyperparameter tuning via RandomizedSearchCV (3-fold CV)</a:t>
            </a:r>
          </a:p>
          <a:p>
            <a:pPr lvl="1"/>
            <a:r>
              <a:t>Primary evaluation metric: PR-AUC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→ PR-AUC: 0.26 | Recall: 78%</a:t>
            </a:r>
          </a:p>
          <a:p>
            <a:pPr lvl="1"/>
            <a:r>
              <a:t>Random Forest → PR-AUC: 0.89 | Recall: 59%</a:t>
            </a:r>
          </a:p>
          <a:p>
            <a:pPr lvl="1"/>
            <a:r>
              <a:t>HistGradientBoost → PR-AUC: 0.91 | Recall: 94%</a:t>
            </a:r>
          </a:p>
          <a:p>
            <a:pPr lvl="1"/>
            <a:r>
              <a:t>Final Model Selected: HistGradientBoosting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PR-AUC Instead of Accuracy?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unreliable in highly imbalanced datasets</a:t>
            </a:r>
          </a:p>
          <a:p>
            <a:pPr lvl="1"/>
            <a:r>
              <a:t>ROC-AUC may overestimate performance</a:t>
            </a:r>
          </a:p>
          <a:p>
            <a:pPr lvl="1"/>
            <a:r>
              <a:t>PR-AUC focuses on minority class detection</a:t>
            </a:r>
          </a:p>
          <a:p>
            <a:pPr lvl="1"/>
            <a:r>
              <a:t>Critical for fraud detection use-case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Business-Driven Threshold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threshold (0.5) suboptimal for fraud detection</a:t>
            </a:r>
          </a:p>
          <a:p>
            <a:pPr lvl="1"/>
            <a:r>
              <a:t>Cost Function: 1.5*(TP+FP) + AvgFraudAmount*FN</a:t>
            </a:r>
          </a:p>
          <a:p>
            <a:pPr lvl="1"/>
            <a:r>
              <a:t>Thresholds evaluated from 0.10 to 0.85</a:t>
            </a:r>
          </a:p>
          <a:p>
            <a:pPr lvl="1"/>
            <a:r>
              <a:t>Optimal threshold selected: 0.10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Performance (Threshold = 0.10)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≈ 98%</a:t>
            </a:r>
          </a:p>
          <a:p>
            <a:pPr lvl="1"/>
            <a:r>
              <a:t>Missed fraud transactions: 48 only</a:t>
            </a:r>
          </a:p>
          <a:p>
            <a:pPr lvl="1"/>
            <a:r>
              <a:t>PR-AUC ≈ 0.907</a:t>
            </a:r>
          </a:p>
          <a:p>
            <a:pPr lvl="1"/>
            <a:r>
              <a:t>False positives managed via low verification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Fraud Loss (Before Model): ~$1.14M</a:t>
            </a:r>
          </a:p>
          <a:p>
            <a:pPr lvl="1"/>
            <a:r>
              <a:t>Annual Savings: ~$1.09M</a:t>
            </a:r>
          </a:p>
          <a:p>
            <a:pPr lvl="1"/>
            <a:r>
              <a:t>Average Monthly Savings: ~$91,458</a:t>
            </a:r>
          </a:p>
          <a:p>
            <a:pPr lvl="1"/>
            <a:r>
              <a:t>Fraud Loss Reduction: ~96%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 Importance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average transaction amount</a:t>
            </a:r>
          </a:p>
          <a:p>
            <a:pPr lvl="1"/>
            <a:r>
              <a:t>Merchant fraud rate</a:t>
            </a:r>
          </a:p>
          <a:p>
            <a:pPr lvl="1"/>
            <a:r>
              <a:t>Transaction behavior variability</a:t>
            </a:r>
          </a:p>
          <a:p>
            <a:pPr lvl="1"/>
            <a:r>
              <a:t>Time-based features (hour, weekend)</a:t>
            </a:r>
          </a:p>
          <a:p>
            <a:pPr lvl="1"/>
            <a:r>
              <a:t>Fraud influenced primarily by behavioral deviation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patterns may evolve (concept drift)</a:t>
            </a:r>
          </a:p>
          <a:p>
            <a:pPr lvl="1"/>
            <a:r>
              <a:t>Merchant fraud rate assumes historical stability</a:t>
            </a:r>
          </a:p>
          <a:p>
            <a:pPr lvl="1"/>
            <a:r>
              <a:t>Operational cost assumptions fixed</a:t>
            </a:r>
          </a:p>
          <a:p>
            <a:pPr lvl="1"/>
            <a:r>
              <a:t>Future: real-time scoring, drift monitoring, threshold recalibration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Imbalance-aware modeling critical for fraud detection</a:t>
            </a:r>
          </a:p>
          <a:p>
            <a:pPr lvl="1"/>
            <a:r>
              <a:t>Time-based validation ensures robustness</a:t>
            </a:r>
          </a:p>
          <a:p>
            <a:pPr lvl="1"/>
            <a:r>
              <a:t>Threshold optimization aligns ML with business objectives</a:t>
            </a:r>
          </a:p>
          <a:p>
            <a:pPr lvl="1"/>
            <a:r>
              <a:t>Solution demonstrates strong real-world deployment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